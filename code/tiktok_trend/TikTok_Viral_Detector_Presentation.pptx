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TikTok Viral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DD"/>
                </a:solidFill>
              </a:rPr>
              <a:t>NLP Model Architecture · Training Data · Feature Weights
Tatiana DeMaria — Full Catalog Viral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029200"/>
            <a:ext cx="260604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54600"/>
            <a:ext cx="260604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 1: Line Classifier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5029200"/>
            <a:ext cx="2606040" cy="347472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5054600"/>
            <a:ext cx="260604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 2: Similarity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5029200"/>
            <a:ext cx="2606040" cy="34747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5054600"/>
            <a:ext cx="260604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Model 3: Song Virality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8552" y="548640"/>
            <a:ext cx="320040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8592" y="1234440"/>
            <a:ext cx="288036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28632" y="1920240"/>
            <a:ext cx="256032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48672" y="2606040"/>
            <a:ext cx="224028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68712" y="3291840"/>
            <a:ext cx="192024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88752" y="3977639"/>
            <a:ext cx="160020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08792" y="4663440"/>
            <a:ext cx="128016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28832" y="5349240"/>
            <a:ext cx="960120" cy="54864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0292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103120" cy="1463040"/>
          </a:xfrm>
          <a:prstGeom prst="rect">
            <a:avLst/>
          </a:prstGeom>
          <a:solidFill>
            <a:srgbClr val="16162E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901952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User pastes any song lyrics
(or Tatiana's CSV is loaded directly)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8240" y="20116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99"/>
                </a:solidFill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463040"/>
            <a:ext cx="2103120" cy="1463040"/>
          </a:xfrm>
          <a:prstGeom prst="rect">
            <a:avLst/>
          </a:prstGeom>
          <a:solidFill>
            <a:srgbClr val="16162E"/>
          </a:solidFill>
          <a:ln w="25400">
            <a:solidFill>
              <a:srgbClr val="4D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D96FF"/>
                </a:solidFill>
              </a:rP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1901952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Section headers detected &amp; stripped
(Chorus, Verse, Bridge,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8520" y="20116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99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63040"/>
            <a:ext cx="2103120" cy="1463040"/>
          </a:xfrm>
          <a:prstGeom prst="rect">
            <a:avLst/>
          </a:prstGeom>
          <a:solidFill>
            <a:srgbClr val="16162E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93D"/>
                </a:solidFill>
              </a:rPr>
              <a:t>MODEL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901952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Every lyric line scored 0–100%
Gradient Boosting on 11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8800" y="20116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99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463040"/>
            <a:ext cx="2103120" cy="1463040"/>
          </a:xfrm>
          <a:prstGeom prst="rect">
            <a:avLst/>
          </a:prstGeom>
          <a:solidFill>
            <a:srgbClr val="16162E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CB77"/>
                </a:solidFill>
              </a:rPr>
              <a:t>MODEL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901952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Full song scored 0–100%
13 aggregated song-level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9080" y="201168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99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463040"/>
            <a:ext cx="2103120" cy="1463040"/>
          </a:xfrm>
          <a:prstGeom prst="rect">
            <a:avLst/>
          </a:prstGeom>
          <a:solidFill>
            <a:srgbClr val="16162E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901952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Viral line + TikTok clip
Song score + ranked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46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Training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10972800" cy="3657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2606040" cy="1463040"/>
          </a:xfrm>
          <a:prstGeom prst="rect">
            <a:avLst/>
          </a:prstGeom>
          <a:solidFill>
            <a:srgbClr val="16162E"/>
          </a:solidFill>
          <a:ln w="19050">
            <a:solidFill>
              <a:srgbClr val="4D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94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D96FF"/>
                </a:solidFill>
              </a:rPr>
              <a:t>Summer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160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4,785 songs  ·  5 tiers (0–4)
Tier 4 = Super Hits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749039"/>
            <a:ext cx="2606040" cy="1463040"/>
          </a:xfrm>
          <a:prstGeom prst="rect">
            <a:avLst/>
          </a:prstGeom>
          <a:solidFill>
            <a:srgbClr val="16162E"/>
          </a:solidFill>
          <a:ln w="1905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3794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CB77"/>
                </a:solidFill>
              </a:rPr>
              <a:t>Balanced Catalog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160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50 songs/tier sampled
= 250 balanced songs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3749039"/>
            <a:ext cx="2606040" cy="1463040"/>
          </a:xfrm>
          <a:prstGeom prst="rect">
            <a:avLst/>
          </a:prstGeom>
          <a:solidFill>
            <a:srgbClr val="16162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794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93D"/>
                </a:solidFill>
              </a:rPr>
              <a:t>Genius Lyrics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160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Lyrics fetched for 231 songs
Lyric text = model input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3749039"/>
            <a:ext cx="2606040" cy="1463040"/>
          </a:xfrm>
          <a:prstGeom prst="rect">
            <a:avLst/>
          </a:prstGeom>
          <a:solidFill>
            <a:srgbClr val="1616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37947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TikTok Trending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160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6 live trending songs
Labelled viral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6B"/>
                </a:solidFill>
              </a:rPr>
              <a:t>Model 1 — Viral Line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0292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Hyperparameters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4846320" cy="42062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8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468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Gradient Boosting Classifier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92808"/>
            <a:ext cx="4846320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436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n_estimators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436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300 trees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68296"/>
            <a:ext cx="4846320" cy="42062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190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max_depth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4190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43784"/>
            <a:ext cx="4846320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945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learning_rate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894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4846320" cy="42062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700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subsample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370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4846320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5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Training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845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12,282 lyric lines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70248"/>
            <a:ext cx="4846320" cy="42062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210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3210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Viral (1) / Non-Viral (0)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45736"/>
            <a:ext cx="4846320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965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CV F1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7965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0.845 ± 0.008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21224"/>
            <a:ext cx="4846320" cy="420624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720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99"/>
                </a:solidFill>
              </a:rPr>
              <a:t>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2720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87.3%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52160"/>
            <a:ext cx="4846320" cy="658368"/>
          </a:xfrm>
          <a:prstGeom prst="rect">
            <a:avLst/>
          </a:prstGeom>
          <a:solidFill>
            <a:srgbClr val="16162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97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93D"/>
                </a:solidFill>
              </a:rPr>
              <a:t>Weak Supervision Label Rule: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447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Line is VIRAL (y=1) if it is in [Chorus/Hook/Bridge] section  OR  repeats ≥ 3× in the song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1005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Training Set Breakdown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1371600"/>
            <a:ext cx="5943600" cy="12344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12,282 lyric lines 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49%  Viral lines  (6,000)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51%  Non-viral lines  (6,282)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27432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 Importance Weights (Model 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3200400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3200400"/>
            <a:ext cx="3931920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3187700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repetition_score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55120" y="3187700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46%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557016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3557016"/>
            <a:ext cx="3332308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3544316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is_repeated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508" y="3544316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39%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3913632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3913632"/>
            <a:ext cx="834352" cy="2743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900932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position_ratio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57552" y="3900932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93D"/>
                </a:solidFill>
              </a:rP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270248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70248"/>
            <a:ext cx="172654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4257548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word_count_norm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5854" y="4257548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4626864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0" y="4626864"/>
            <a:ext cx="65489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4614164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positive_density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88689" y="4614164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4983480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0" y="4983480"/>
            <a:ext cx="53582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970780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brevity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76782" y="4970780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1%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5340096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72400" y="5340096"/>
            <a:ext cx="32319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20" y="5327396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energy_density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55519" y="5327396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0" y="5696712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772400" y="5696712"/>
            <a:ext cx="26365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720" y="5684012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rhyme_next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49565" y="5684012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6053328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72400" y="6053328"/>
            <a:ext cx="26365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6040628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rhyme_prev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49565" y="6040628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72400" y="6409944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72400" y="6409944"/>
            <a:ext cx="21262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60720" y="6397244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negative_density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44462" y="6397244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6766560"/>
            <a:ext cx="3931920" cy="2743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72400" y="6766560"/>
            <a:ext cx="6804" cy="274320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60720" y="6753860"/>
            <a:ext cx="192024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strong_start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30004" y="6753860"/>
            <a:ext cx="457200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D96FF"/>
                </a:solidFill>
              </a:rPr>
              <a:t>Model 2 — Song Similarity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029200" cy="36576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560320" cy="2194560"/>
          </a:xfrm>
          <a:prstGeom prst="rect">
            <a:avLst/>
          </a:prstGeom>
          <a:solidFill>
            <a:srgbClr val="16162E"/>
          </a:solidFill>
          <a:ln w="25400">
            <a:solidFill>
              <a:srgbClr val="4D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D96FF"/>
                </a:solidFill>
              </a:rPr>
              <a:t>TF-IDF
Vectorizer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Converts each song's
lyrics into a numeric
vector (25,000 terms)
bigrams (1,2)
sublinear_tf =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1828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097280"/>
            <a:ext cx="2560320" cy="2194560"/>
          </a:xfrm>
          <a:prstGeom prst="rect">
            <a:avLst/>
          </a:prstGeom>
          <a:solidFill>
            <a:srgbClr val="16162E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143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CB77"/>
                </a:solidFill>
              </a:rPr>
              <a:t>Cosine
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NearestNeighbors
with cosine metric
(brute-force, fast
for 231 songs)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828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97280"/>
            <a:ext cx="2560320" cy="2194560"/>
          </a:xfrm>
          <a:prstGeom prst="rect">
            <a:avLst/>
          </a:prstGeom>
          <a:solidFill>
            <a:srgbClr val="16162E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143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93D"/>
                </a:solidFill>
              </a:rPr>
              <a:t>Token
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37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Raw unigram sets
per song computed
at train time
(bigrams too specific)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1828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097280"/>
            <a:ext cx="2560320" cy="2194560"/>
          </a:xfrm>
          <a:prstGeom prst="rect">
            <a:avLst/>
          </a:prstGeom>
          <a:solidFill>
            <a:srgbClr val="16162E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143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6B"/>
                </a:solidFill>
              </a:rPr>
              <a:t>Why-Match
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37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Shared vocabulary
displayed as keyword
tags in the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Vectorizer Settings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303520" cy="3474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700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ngram_range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9700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(1, 2)  — unigrams + bigrams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25112"/>
            <a:ext cx="5303520" cy="34747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632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max_features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3632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25,000 vocabulary terms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18304"/>
            <a:ext cx="5303520" cy="3474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564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min_df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7564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 — keep all terms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11496"/>
            <a:ext cx="5303520" cy="34747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4959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max_df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495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0.90  — exclude near-universal terms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04688"/>
            <a:ext cx="5303520" cy="3474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427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sublinear_tf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427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True  — log-scale term frequencies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97880"/>
            <a:ext cx="5303520" cy="34747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359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strip_accents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359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unicode — normalise foreign characters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91072"/>
            <a:ext cx="5303520" cy="34747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32917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Catalog 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63291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231 songs with lyrics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520440"/>
            <a:ext cx="5760720" cy="2926080"/>
          </a:xfrm>
          <a:prstGeom prst="rect">
            <a:avLst/>
          </a:prstGeom>
          <a:solidFill>
            <a:srgbClr val="16162E"/>
          </a:solidFill>
          <a:ln w="19050">
            <a:solidFill>
              <a:srgbClr val="4D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3611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96FF"/>
                </a:solidFill>
              </a:rPr>
              <a:t>How Similarity is Used in the 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4023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1.  Paste lyrics into Tab 1
2.  TF-IDF keyword extraction identifies
     the most distinctive words in the lyrics
3.  Those keywords are sent to the TikTok
     RapidAPI to find currently trending songs
4.  Results ranked by trend_score:
     0.80 × log(play_count)
   + 0.20 × keyword_match_ratio
5.  Each match shows WHY it matched
     (shared keywords or lyric search terms)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93D"/>
                </a:solidFill>
              </a:rPr>
              <a:t>Model 3 — Song-Level TikTok Virality Predictor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Hyperparameters &amp; Label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120640" cy="39319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5542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455420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Gradient Boosting Classifier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6232"/>
            <a:ext cx="5120640" cy="39319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433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n_estimators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94332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200 trees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95144"/>
            <a:ext cx="5120640" cy="39319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32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max_depth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333244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120640" cy="39319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7215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learning_rate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772156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72968"/>
            <a:ext cx="5120640" cy="39319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1106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subsample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211068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5120640" cy="39319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499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Training songs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649980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187 songs (tiers 0,1,3,4,-1)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50792"/>
            <a:ext cx="5120640" cy="39319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8889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Label 1 (viral)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088892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Tier 3/4 + TikTok trending (tier -1)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9704"/>
            <a:ext cx="5120640" cy="39319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278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Label 0 (not)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527804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Tier 0/1 (non-hits / minor hits)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28616"/>
            <a:ext cx="5120640" cy="393192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6671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Tier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966716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Skipped (ambiguous mid-tier)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67528"/>
            <a:ext cx="5120640" cy="393192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0562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CV F1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405628"/>
            <a:ext cx="2926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0.678 ± 0.057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1005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 Importance Weights (Model 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463040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1463040"/>
            <a:ext cx="3566160" cy="24688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450340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line_count_norm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38000" y="1450340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93D"/>
                </a:solidFill>
              </a:rPr>
              <a:t>14%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1773936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1773936"/>
            <a:ext cx="3460607" cy="24688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1761236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hook_line_ratio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32447" y="1761236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93D"/>
                </a:solidFill>
              </a:rPr>
              <a:t>14%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2084832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2084832"/>
            <a:ext cx="3437989" cy="24688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072132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top_viral_prob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09829" y="2072132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93D"/>
                </a:solidFill>
              </a:rPr>
              <a:t>14%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2395728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21040" y="2395728"/>
            <a:ext cx="2173874" cy="246888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2383028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avg_negative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5714" y="2383028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CB77"/>
                </a:solidFill>
              </a:rPr>
              <a:t>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2706624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21040" y="2706624"/>
            <a:ext cx="2078375" cy="246888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2693924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avg_energy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50215" y="2693924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CB77"/>
                </a:solidFill>
              </a:rPr>
              <a:t>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3017520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3017520"/>
            <a:ext cx="1915020" cy="246888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3004820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avg_brevity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6860" y="3004820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CB77"/>
                </a:solidFill>
              </a:rPr>
              <a:t>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3328416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3328416"/>
            <a:ext cx="1477732" cy="2468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3315716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avg_viral_prob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49572" y="3315716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3639312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21040" y="3639312"/>
            <a:ext cx="1369666" cy="2468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3626612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max_repeats_norm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41506" y="3626612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3950208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21040" y="3950208"/>
            <a:ext cx="1289246" cy="2468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60" y="3937508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viral_line_density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61086" y="3937508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4261104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21040" y="4261104"/>
            <a:ext cx="1269140" cy="2468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4248404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strong_hook_density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0980" y="4248404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21040" y="4572000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21040" y="4572000"/>
            <a:ext cx="1259088" cy="2468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4559300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repetition_rate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30928" y="4559300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21040" y="4882896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21040" y="4882896"/>
            <a:ext cx="1120864" cy="2468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60" y="4870196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avg_positive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92704" y="4870196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4%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5193792"/>
            <a:ext cx="3566160" cy="24688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21040" y="5193792"/>
            <a:ext cx="711221" cy="2468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5181092"/>
            <a:ext cx="192024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chorus_repeat_ratio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83061" y="5181092"/>
            <a:ext cx="457200" cy="297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96FF"/>
                </a:solidFill>
              </a:rPr>
              <a:t>3%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394960"/>
            <a:ext cx="6126480" cy="1234440"/>
          </a:xfrm>
          <a:prstGeom prst="rect">
            <a:avLst/>
          </a:prstGeom>
          <a:solidFill>
            <a:srgbClr val="16162E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0" y="54406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93D"/>
                </a:solidFill>
              </a:rPr>
              <a:t>Dependency Chain: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52160" y="5742432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Model 1 must be trained first.  Model 3 calls Model 1 on every training song to compute avg_viral_prob, top_viral_prob, and density features — these song-level aggregates are then fed into Model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Tatiana DeMaria — Catalog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0292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103120" cy="1417320"/>
          </a:xfrm>
          <a:prstGeom prst="rect">
            <a:avLst/>
          </a:prstGeom>
          <a:solidFill>
            <a:srgbClr val="16162E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6B6B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🔥 High Potential
(≥65%)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2888" y="1097280"/>
            <a:ext cx="2103120" cy="1417320"/>
          </a:xfrm>
          <a:prstGeom prst="rect">
            <a:avLst/>
          </a:prstGeom>
          <a:solidFill>
            <a:srgbClr val="16162E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2888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D93D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⚡ Moderate
(45–64%)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1456" y="1097280"/>
            <a:ext cx="2103120" cy="1417320"/>
          </a:xfrm>
          <a:prstGeom prst="rect">
            <a:avLst/>
          </a:prstGeom>
          <a:solidFill>
            <a:srgbClr val="16162E"/>
          </a:solidFill>
          <a:ln w="254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88899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📉 Low
(&lt;45%)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0024" y="1097280"/>
            <a:ext cx="2103120" cy="1417320"/>
          </a:xfrm>
          <a:prstGeom prst="rect">
            <a:avLst/>
          </a:prstGeom>
          <a:solidFill>
            <a:srgbClr val="16162E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6BCB77"/>
                </a:solidFill>
              </a:rPr>
              <a:t>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Avg Viral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08592" y="1097280"/>
            <a:ext cx="2103120" cy="1417320"/>
          </a:xfrm>
          <a:prstGeom prst="rect">
            <a:avLst/>
          </a:prstGeom>
          <a:solidFill>
            <a:srgbClr val="16162E"/>
          </a:solidFill>
          <a:ln w="25400">
            <a:solidFill>
              <a:srgbClr val="4D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D96FF"/>
                </a:solidFill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Songs Analysed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Top Pick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5212080" cy="1371600"/>
          </a:xfrm>
          <a:prstGeom prst="rect">
            <a:avLst/>
          </a:prstGeom>
          <a:solidFill>
            <a:srgbClr val="16162E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</a:rPr>
              <a:t>Fresh Meat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TikTok Viral Score: 100%  ·  🔥 High TikTok Potential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93D"/>
                </a:solidFill>
              </a:rPr>
              <a:t>"Rotting here down in the belly of the beast"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Score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00400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200400"/>
            <a:ext cx="3474720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187700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Fresh Meat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5120" y="3187700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502152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502152"/>
            <a:ext cx="3439972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489452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Make Me Feel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20372" y="3489452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99%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803904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803904"/>
            <a:ext cx="3439972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791204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Save 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20372" y="3791204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105656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105656"/>
            <a:ext cx="3405225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092956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Born Again Sinner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85625" y="4092956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98%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407408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4407408"/>
            <a:ext cx="3231489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394708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Without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11889" y="4394708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93%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709160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4709160"/>
            <a:ext cx="3057753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4696460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You Make 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153" y="4696460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88%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5010912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5010912"/>
            <a:ext cx="2189073" cy="25603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998212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Anxiety - Acoustic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473" y="4998212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93D"/>
                </a:solidFill>
              </a:rPr>
              <a:t>63%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5312664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0" y="5312664"/>
            <a:ext cx="2015337" cy="25603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5299964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Too Much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95737" y="5299964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93D"/>
                </a:solidFill>
              </a:rPr>
              <a:t>58%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5614416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5614416"/>
            <a:ext cx="1528876" cy="256032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5601716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Gallery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09276" y="5601716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</a:rPr>
              <a:t>44%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5916168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5916168"/>
            <a:ext cx="1111910" cy="256032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903468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What It Is About You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92310" y="5903468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</a:rPr>
              <a:t>32%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6217920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0" y="6217920"/>
            <a:ext cx="590702" cy="256032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6205220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AWS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71102" y="6205220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</a:rPr>
              <a:t>17%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6519672"/>
            <a:ext cx="3474720" cy="256032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29600" y="6519672"/>
            <a:ext cx="312724" cy="256032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0" y="6506972"/>
            <a:ext cx="192024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DD"/>
                </a:solidFill>
              </a:rPr>
              <a:t>London Don't Lie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3124" y="6506972"/>
            <a:ext cx="457200" cy="30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</a:rPr>
              <a:t>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Tatiana DeMaria — Full Ranked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14300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3474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3980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39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Song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98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93980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939800"/>
            <a:ext cx="4343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Viral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9398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Section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9398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99"/>
                </a:solidFill>
              </a:rPr>
              <a:t>Line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11521440" cy="40436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349248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9248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Fresh Meat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34924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349248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349248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"Rotting here down in the belly of the beast"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349248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[Verse]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1349248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97%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728216"/>
            <a:ext cx="11521440" cy="404368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779016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779016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Make Me Feel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1779016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</a:rPr>
              <a:t>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79016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1779016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"Caught here"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779016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2760" y="1779016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82%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157984"/>
            <a:ext cx="11521440" cy="40436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208784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208784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Save 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2208784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</a:rPr>
              <a:t>99%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2208784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2208784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"You'll be waiting for someone to save you"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08784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2208784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88%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587752"/>
            <a:ext cx="11521440" cy="404368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638552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63855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Born Again Sinner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2638552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</a:rPr>
              <a:t>98%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2638552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2638552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"I'm a born again sinner"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638552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2760" y="2638552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94%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017520"/>
            <a:ext cx="11521440" cy="40436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068320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3068320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Without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3068320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</a:rPr>
              <a:t>93%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3068320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3068320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"But see without you it means nothing"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068320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52760" y="3068320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90%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447288"/>
            <a:ext cx="11521440" cy="404368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3498088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3498088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You Make 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349808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</a:rPr>
              <a:t>88%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60520" y="3498088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3498088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"You, You Make Me"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3498088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52760" y="3498088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</a:rPr>
              <a:t>96%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877056"/>
            <a:ext cx="11521440" cy="40436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3927856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3927856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Anxiety - Acoustic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7560" y="3927856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93D"/>
                </a:solidFill>
              </a:rPr>
              <a:t>63%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60520" y="3927856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3927856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"C'mon and try and shake it"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3927856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52760" y="3927856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93D"/>
                </a:solidFill>
              </a:rPr>
              <a:t>75%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306824"/>
            <a:ext cx="11521440" cy="404368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57624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4357624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Too Much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37560" y="4357624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93D"/>
                </a:solidFill>
              </a:rPr>
              <a:t>58%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0520" y="4357624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66360" y="4357624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"Too much it ties me up"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4357624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52760" y="4357624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93D"/>
                </a:solidFill>
              </a:rPr>
              <a:t>89%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736592"/>
            <a:ext cx="11521440" cy="40436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4787392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478739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Gallery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37560" y="4787392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99"/>
                </a:solidFill>
              </a:rPr>
              <a:t>44%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60520" y="4787392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66360" y="4787392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"when you're afraid and all alone?"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4787392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[Tag]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52760" y="4787392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99"/>
                </a:solidFill>
              </a:rPr>
              <a:t>71%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166360"/>
            <a:ext cx="11521440" cy="404368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0040" y="5217160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5217160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What It Is About You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37560" y="5217160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99"/>
                </a:solidFill>
              </a:rPr>
              <a:t>32%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60520" y="5217160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66360" y="5217160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"With your guilt free heart"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1200" y="5217160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52760" y="5217160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99"/>
                </a:solidFill>
              </a:rPr>
              <a:t>97%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5596128"/>
            <a:ext cx="11521440" cy="40436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5646928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5646928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37560" y="564692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99"/>
                </a:solidFill>
              </a:rPr>
              <a:t>17%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60520" y="5646928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5646928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"I finally found my way into my mind"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01200" y="5646928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52760" y="5646928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99"/>
                </a:solidFill>
              </a:rPr>
              <a:t>78%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6025896"/>
            <a:ext cx="11521440" cy="404368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040" y="6076696"/>
            <a:ext cx="347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6076696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London Don't Lie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37560" y="6076696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8899"/>
                </a:solidFill>
              </a:rPr>
              <a:t>9%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60520" y="6076696"/>
            <a:ext cx="868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66360" y="6076696"/>
            <a:ext cx="4343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"No don't lie no no"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01200" y="6076696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[Chorus]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52760" y="6076696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8899"/>
                </a:solidFill>
              </a:rPr>
              <a:t>68%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11480" y="65105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</a:rPr>
              <a:t>Score = Model 3 song-level viral probability  ·  Line % = Model 1 viral probability for the top clip line  ·  Section = where the viral line lives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Top 3 Songs — Viral Line Spotlight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54864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749039" cy="5577840"/>
          </a:xfrm>
          <a:prstGeom prst="rect">
            <a:avLst/>
          </a:prstGeom>
          <a:solidFill>
            <a:srgbClr val="16162E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57200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33271"/>
            <a:ext cx="3200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Fresh Meat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🔥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3566159" cy="1051560"/>
          </a:xfrm>
          <a:prstGeom prst="rect">
            <a:avLst/>
          </a:prstGeom>
          <a:solidFill>
            <a:srgbClr val="22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148840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6B"/>
                </a:solidFill>
              </a:rPr>
              <a:t>VIRAL LINE TO FILM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04872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"Rotting here down in the belly of the beast"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342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Line Viral Prob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3342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97%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845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Best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3845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[Verse]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4348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Song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348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920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93D"/>
                </a:solidFill>
              </a:rPr>
              <a:t>Why it will go viral: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93792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High energy language + strong repetition rate. The line "belly of the beast" is visceral and clip-worthy.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39" y="1005840"/>
            <a:ext cx="3749039" cy="5577840"/>
          </a:xfrm>
          <a:prstGeom prst="rect">
            <a:avLst/>
          </a:prstGeom>
          <a:solidFill>
            <a:srgbClr val="16162E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39" y="1005840"/>
            <a:ext cx="457200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39" y="1005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1033271"/>
            <a:ext cx="3200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Make Me Feel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16002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🔥 99%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103120"/>
            <a:ext cx="3566159" cy="1051560"/>
          </a:xfrm>
          <a:prstGeom prst="rect">
            <a:avLst/>
          </a:prstGeom>
          <a:solidFill>
            <a:srgbClr val="22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1" y="2148840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6B"/>
                </a:solidFill>
              </a:rPr>
              <a:t>VIRAL LINE TO FILM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1" y="2404872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"Caught here"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79" y="329184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1" y="3342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Line Viral Prob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39" y="3342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82%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379476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3845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Best Section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39" y="3845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[Chorus]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79" y="429768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1" y="4348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Song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39" y="4348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99%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48920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93D"/>
                </a:solidFill>
              </a:rPr>
              <a:t>Why it will go viral: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79" y="5193792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Ultra-short viral line (2 words). Appears in Chorus. POV / lip sync format is obvious.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58" y="1005840"/>
            <a:ext cx="3749039" cy="5577840"/>
          </a:xfrm>
          <a:prstGeom prst="rect">
            <a:avLst/>
          </a:prstGeom>
          <a:solidFill>
            <a:srgbClr val="16162E"/>
          </a:solidFill>
          <a:ln w="317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58" y="1005840"/>
            <a:ext cx="457200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58" y="1005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78" y="1033271"/>
            <a:ext cx="3200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Save 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8" y="16002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🔥 99%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8" y="2103120"/>
            <a:ext cx="3566159" cy="1051560"/>
          </a:xfrm>
          <a:prstGeom prst="rect">
            <a:avLst/>
          </a:prstGeom>
          <a:solidFill>
            <a:srgbClr val="22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0" y="2148840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6B"/>
                </a:solidFill>
              </a:rPr>
              <a:t>VIRAL LINE TO FILM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0" y="2404872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"You'll be waiting for someone to save you"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598" y="329184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0" y="3342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Line Viral Prob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58" y="3342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88%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598" y="379476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0" y="3845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Best Section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8" y="3845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[Chorus]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598" y="4297680"/>
            <a:ext cx="3566159" cy="420624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02750" y="4348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Song Score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8358" y="4348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99%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598" y="48920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93D"/>
                </a:solidFill>
              </a:rPr>
              <a:t>Why it will go viral: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598" y="5193792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Emotionally resonant hook. 88% viral probability — strong repetition drives duet culture.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00" cy="36576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61288"/>
            <a:ext cx="47548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972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6 / 12 songs have High TikTok 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538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Fresh Meat, Make Me Feel, Save Me, Born Again Sinner, Without You, and You Make Me all score ≥88%.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114300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12848"/>
            <a:ext cx="475488" cy="47548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93D"/>
                </a:solidFill>
              </a:rPr>
              <a:t>Repetition is the strongest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Model 1 gives 46% weight to repetition_score and 39% to is_repeated. Songs where a hook line repeats ≥3× are consistently flagged viral.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114300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64408"/>
            <a:ext cx="475488" cy="475488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644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004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CB77"/>
                </a:solidFill>
              </a:rPr>
              <a:t>Chorus lines dominate across all songs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57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10 of 12 top viral lines live in the Chorus section. Prioritise chorus polish for maximum TikTok impact.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114300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315968"/>
            <a:ext cx="475488" cy="475488"/>
          </a:xfrm>
          <a:prstGeom prst="rect">
            <a:avLst/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159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96FF"/>
                </a:solidFill>
              </a:rPr>
              <a:t>Short lines outperform long 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085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"Caught here" (2 words, 99% song score) shows brevity wins. Aim for 4–9 words in the hook 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66360"/>
            <a:ext cx="114300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367528"/>
            <a:ext cx="475488" cy="47548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67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035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8899"/>
                </a:solidFill>
              </a:rPr>
              <a:t>London Don't Lie scores lowest (9%)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601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Low repetition rate, complex structure, limited hook density. Consider a stripped-back acoustic version for TikTok.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99"/>
                </a:solidFill>
              </a:rPr>
              <a:t>TikTok Viral Detector  ·  Models: Gradient Boosting + TF-IDF  ·  Training: 231 catalog songs  ·  Tatiana: 12 songs analysed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